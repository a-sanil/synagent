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3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64592" cy="182880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 Light"/>
              </a:rPr>
              <a:t>SynAgent Fork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ADCFC"/>
                </a:solidFill>
                <a:latin typeface="Calibri"/>
              </a:rPr>
              <a:t>Patent Ingestion Pipeline  ·  ORD Integration  ·  Reaction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20440"/>
            <a:ext cx="11247120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B4D8"/>
                </a:solidFill>
                <a:latin typeface="Calibri"/>
              </a:rPr>
              <a:t>Architecture &amp; Changes vs. lukasmki/SynAgent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Original SynAgent (Baseline)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394960" cy="53949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43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✓  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463039"/>
            <a:ext cx="52120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Validates retrosynthesis routes from SynLlama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RDKit — SMILES and reaction template validation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ChemSpace API — building block pricing &amp; availability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PubChem REST — GHS hazard scoring per route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Pydantic AI + Gemini — 4 parallel specialist agents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Structured JSON output per retrosynthesis route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  <a:latin typeface="Calibri"/>
              </a:rPr>
              <a:t>CSV input from SynLlama predictions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51560"/>
            <a:ext cx="5394960" cy="5394960"/>
          </a:xfrm>
          <a:prstGeom prst="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1430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✗  What It Lacks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463039"/>
            <a:ext cx="52120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0A0"/>
                </a:solidFill>
                <a:latin typeface="Calibri"/>
              </a:rPr>
              <a:t>No database or persistent storage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A0A0"/>
                </a:solidFill>
                <a:latin typeface="Calibri"/>
              </a:rPr>
              <a:t>No patent text mining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A0A0"/>
                </a:solidFill>
                <a:latin typeface="Calibri"/>
              </a:rPr>
              <a:t>No curated reaction corpus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A0A0"/>
                </a:solidFill>
                <a:latin typeface="Calibri"/>
              </a:rPr>
              <a:t>No human-in-the-loop review UI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A0A0"/>
                </a:solidFill>
                <a:latin typeface="Calibri"/>
              </a:rPr>
              <a:t>No bulk data ingestion pipeline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A0A0"/>
                </a:solidFill>
                <a:latin typeface="Calibri"/>
              </a:rPr>
              <a:t>No ORD / external reaction DB integration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A0A0"/>
                </a:solidFill>
                <a:latin typeface="Calibri"/>
              </a:rPr>
              <a:t>No web scraping or patent collection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This Fork Adds Three Major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3657600" cy="5120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280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1. Patent Ingestion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600200"/>
            <a:ext cx="34747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8FF"/>
                </a:solidFill>
                <a:latin typeface="Calibri"/>
              </a:rPr>
              <a:t>Mine synthesis reactions from patent text using Gemini LLM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Web scraping via Scrapling (static / dynamic / stealth)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Gemini LLM → structured SMILES extraction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Multi-pass confidence scoring (0.0 – 1.0)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FastAPI review UI with AJAX modals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Autonomous continuous crawl → parse loops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188720"/>
            <a:ext cx="3657600" cy="512064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280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2. Data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600200"/>
            <a:ext cx="34747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8FF"/>
                </a:solidFill>
                <a:latin typeface="Calibri"/>
              </a:rPr>
              <a:t>Bulk patent CSV + ORD reactions from HuggingFace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PatentsView API → weekly chemistry CSV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Drag-and-drop CSV upload in the web UI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ORD HuggingFace stream → direct DB insert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No LLM needed for ORD (expert-curated)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CLI: download-bulk, ingest-csv, ingest-ord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66759" y="1188720"/>
            <a:ext cx="3657600" cy="5120640"/>
          </a:xfrm>
          <a:prstGeom prst="rect">
            <a:avLst/>
          </a:prstGeom>
          <a:solidFill>
            <a:srgbClr val="6B3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7" y="1280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3. Reaction Database +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7" y="1600200"/>
            <a:ext cx="347472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8FF"/>
                </a:solidFill>
                <a:latin typeface="Calibri"/>
              </a:rPr>
              <a:t>SQLite + FTS5, FastAPI review, active learning</a:t>
            </a:r>
          </a:p>
          <a:p>
            <a:pPr algn="l"/>
            <a:r>
              <a:rPr sz="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6-table SQLite schema (patents, reactions, queue…)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FTS5 keyword + FAISS semantic search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Batch review for low-confidence reactions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Active learning correction log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• source column: 'patent' vs 'ord'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Patent Ingestion Pipeline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1536192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" y="1271016"/>
            <a:ext cx="1481328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Web / Google Patents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73936" y="1554480"/>
            <a:ext cx="164592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947672" y="1234440"/>
            <a:ext cx="1536192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84248" y="1271016"/>
            <a:ext cx="1481328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Scrapling Fetcher
(static / dynamic / stealth)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93007" y="1554480"/>
            <a:ext cx="164592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666744" y="1234440"/>
            <a:ext cx="1536192" cy="64008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271016"/>
            <a:ext cx="1481328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raw_documents
(SQLite)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12079" y="1554480"/>
            <a:ext cx="164592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385816" y="1234440"/>
            <a:ext cx="1536192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2392" y="1271016"/>
            <a:ext cx="1481328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parse_queue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31151" y="1554480"/>
            <a:ext cx="164592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104888" y="1234440"/>
            <a:ext cx="1536192" cy="64008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41464" y="1271016"/>
            <a:ext cx="1481328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Gemini LLM Parser
(gemini-2.0-flash)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224" y="1554480"/>
            <a:ext cx="164591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823959" y="1234440"/>
            <a:ext cx="1536192" cy="640080"/>
          </a:xfrm>
          <a:prstGeom prst="rect">
            <a:avLst/>
          </a:prstGeom>
          <a:solidFill>
            <a:srgbClr val="6B3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0535" y="1271016"/>
            <a:ext cx="1481328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patents + reactions
(SQLite)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369295" y="1554480"/>
            <a:ext cx="164592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543032" y="1234440"/>
            <a:ext cx="1536192" cy="64008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9607" y="1271016"/>
            <a:ext cx="1481328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FastAPI Review UI
Human Corrections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057400"/>
            <a:ext cx="5806440" cy="658368"/>
          </a:xfrm>
          <a:prstGeom prst="rect">
            <a:avLst/>
          </a:prstGeom>
          <a:solidFill>
            <a:srgbClr val="E8F0FE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2103120"/>
            <a:ext cx="56235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Calibri"/>
              </a:rPr>
              <a:t>pipeline.py</a:t>
            </a:r>
          </a:p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URL fetching (Scrapling), document storage, parse queue management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2512" y="2057400"/>
            <a:ext cx="5806440" cy="658368"/>
          </a:xfrm>
          <a:prstGeom prst="rect">
            <a:avLst/>
          </a:prstGeom>
          <a:solidFill>
            <a:srgbClr val="E8F0FE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103120"/>
            <a:ext cx="56235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Calibri"/>
              </a:rPr>
              <a:t>llm_parser.py</a:t>
            </a:r>
          </a:p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GeminiLLMParser: extracts SMILES, yields, temps, solvents from patent text. Confidence 0–1.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816352"/>
            <a:ext cx="5806440" cy="658368"/>
          </a:xfrm>
          <a:prstGeom prst="rect">
            <a:avLst/>
          </a:prstGeom>
          <a:solidFill>
            <a:srgbClr val="E8F0FE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2862072"/>
            <a:ext cx="56235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Calibri"/>
              </a:rPr>
              <a:t>chem_ner.py</a:t>
            </a:r>
          </a:p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Regex NER for yields/temps, SMILES canonicalization via RDKit + PubChem fallback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2512" y="2816352"/>
            <a:ext cx="5806440" cy="658368"/>
          </a:xfrm>
          <a:prstGeom prst="rect">
            <a:avLst/>
          </a:prstGeom>
          <a:solidFill>
            <a:srgbClr val="E8F0FE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2862072"/>
            <a:ext cx="56235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Calibri"/>
              </a:rPr>
              <a:t>webui.py</a:t>
            </a:r>
          </a:p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FastAPI + Jinja2 review UI — patent list, reaction AJAX edit modals, batch review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575304"/>
            <a:ext cx="5806440" cy="658368"/>
          </a:xfrm>
          <a:prstGeom prst="rect">
            <a:avLst/>
          </a:prstGeom>
          <a:solidFill>
            <a:srgbClr val="E8F0FE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3621024"/>
            <a:ext cx="56235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Calibri"/>
              </a:rPr>
              <a:t>autonomous.py</a:t>
            </a:r>
          </a:p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Continuous collect → enqueue → parse cycles with configurable Scrapling profiles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82512" y="3575304"/>
            <a:ext cx="5806440" cy="658368"/>
          </a:xfrm>
          <a:prstGeom prst="rect">
            <a:avLst/>
          </a:prstGeom>
          <a:solidFill>
            <a:srgbClr val="E8F0FE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621024"/>
            <a:ext cx="56235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97D"/>
                </a:solidFill>
                <a:latin typeface="Calibri"/>
              </a:rPr>
              <a:t>cli.py</a:t>
            </a:r>
          </a:p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Typer CLI: collect, parse, run-worker, run-crawler, run-autonomous, run-full-pipeline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New Data Pipeline Modules  (just implemented)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39" y="1078992"/>
            <a:ext cx="685800" cy="2560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64991" y="11155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73760"/>
                </a:solidFill>
                <a:latin typeface="Calibri"/>
              </a:rPr>
              <a:t>NEW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3703320" cy="5029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6304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bulk_downloader.py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783080"/>
            <a:ext cx="3520439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1">
                <a:solidFill>
                  <a:srgbClr val="D0F0FF"/>
                </a:solidFill>
                <a:latin typeface="Calibri"/>
              </a:rPr>
              <a:t>get_bulk_patent_data(year=2024, week=1)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• Downloads from PatentsView public API (free, no key required)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• Filters to CPC section C (Chemistry &amp; Metallurgy)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• Output CSV: patent_id, title, abstract, date, url, raw_text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• load_csv_as_patent_dicts() reads any compatible CSV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• CLI: download-bulk 2024 1 --output patents_2024_w01.csv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9479" y="1078992"/>
            <a:ext cx="685800" cy="2560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42631" y="11155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73760"/>
                </a:solidFill>
                <a:latin typeface="Calibri"/>
              </a:rPr>
              <a:t>NEW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371600"/>
            <a:ext cx="3703320" cy="502920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46304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csv_ingestion.py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783080"/>
            <a:ext cx="3520439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1">
                <a:solidFill>
                  <a:srgbClr val="D0F0FF"/>
                </a:solidFill>
                <a:latin typeface="Calibri"/>
              </a:rPr>
              <a:t>ingest_csv_file()  /  ingest_csv_bytes()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• Reads bulk patent CSV, creates one RawDocument per row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• source_type='patent_csv' for traceability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• Auto-enqueues each row in the parse_queue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• Web endpoint: drag &amp; drop at /upload-csv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• CLI: ingest-csv patents_2024_w01.csv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247120" y="1078992"/>
            <a:ext cx="685800" cy="2560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20272" y="111556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73760"/>
                </a:solidFill>
                <a:latin typeface="Calibri"/>
              </a:rPr>
              <a:t>NEW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3703320" cy="5029200"/>
          </a:xfrm>
          <a:prstGeom prst="rect">
            <a:avLst/>
          </a:prstGeom>
          <a:solidFill>
            <a:srgbClr val="6B3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146304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ord_ingestion.py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783080"/>
            <a:ext cx="3520439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1">
                <a:solidFill>
                  <a:srgbClr val="D0F0FF"/>
                </a:solidFill>
                <a:latin typeface="Calibri"/>
              </a:rPr>
              <a:t>ingest_ord_dataset(db, limit=5000)</a:t>
            </a:r>
          </a:p>
          <a:p>
            <a:pPr algn="l"/>
            <a:r>
              <a:rPr sz="3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• Streams from HuggingFace open-reaction-database/ord-data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• NO LLM — ORD is already expert-curated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• Creates synthetic parent patent 'ORD-DATASET'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• Sets source='ord', confidence=1.0 on all rows</a:t>
            </a:r>
          </a:p>
          <a:p>
            <a:pPr algn="l">
              <a:spcBef>
                <a:spcPts val="300"/>
              </a:spcBef>
            </a:pPr>
            <a:r>
              <a:rPr sz="1050" b="0" i="0">
                <a:solidFill>
                  <a:srgbClr val="FFFFFF"/>
                </a:solidFill>
                <a:latin typeface="Calibri"/>
              </a:rPr>
              <a:t>• CLI: ingest-ord --limit 5000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Two Parallel Ingestion Paths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37160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271016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PATH A
Patent CSV</a:t>
            </a:r>
          </a:p>
        </p:txBody>
      </p:sp>
      <p:sp>
        <p:nvSpPr>
          <p:cNvPr id="7" name="Rectangle 6"/>
          <p:cNvSpPr/>
          <p:nvPr/>
        </p:nvSpPr>
        <p:spPr>
          <a:xfrm>
            <a:off x="1783080" y="1234440"/>
            <a:ext cx="1298448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271016"/>
            <a:ext cx="122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PatentsView API
(download-bulk)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81528" y="1485900"/>
            <a:ext cx="155448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36976" y="1234440"/>
            <a:ext cx="1298448" cy="502920"/>
          </a:xfrm>
          <a:prstGeom prst="rect">
            <a:avLst/>
          </a:prstGeom>
          <a:solidFill>
            <a:srgbClr val="15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82696" y="1271016"/>
            <a:ext cx="122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CSV file
patents_YYYY_wWW.csv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35424" y="1485900"/>
            <a:ext cx="155448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690872" y="1234440"/>
            <a:ext cx="1298448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271016"/>
            <a:ext cx="122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Drop into UI
/upload-csv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89320" y="1485900"/>
            <a:ext cx="155448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144768" y="1234440"/>
            <a:ext cx="1298448" cy="50292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0488" y="1271016"/>
            <a:ext cx="122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RawDocuments
(SQLite)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43216" y="1485900"/>
            <a:ext cx="155448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598663" y="1234440"/>
            <a:ext cx="1298448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44383" y="1271016"/>
            <a:ext cx="122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parse_queue
(pending→done)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97111" y="1485900"/>
            <a:ext cx="155448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052559" y="1234440"/>
            <a:ext cx="1298448" cy="50292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271016"/>
            <a:ext cx="122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Gemini LLM
gemini-2.0-flash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351007" y="1485900"/>
            <a:ext cx="155448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0506455" y="1234440"/>
            <a:ext cx="1298448" cy="502920"/>
          </a:xfrm>
          <a:prstGeom prst="rect">
            <a:avLst/>
          </a:prstGeom>
          <a:solidFill>
            <a:srgbClr val="6B3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52176" y="1271016"/>
            <a:ext cx="122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reactions table
source='patent'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148840"/>
            <a:ext cx="1371600" cy="5029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" y="2185416"/>
            <a:ext cx="13167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PATH B
ORD Direct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2148840"/>
            <a:ext cx="1298448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2185416"/>
            <a:ext cx="122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HuggingFace
ORD dataset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81528" y="2400300"/>
            <a:ext cx="155448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236976" y="2148840"/>
            <a:ext cx="1298448" cy="502920"/>
          </a:xfrm>
          <a:prstGeom prst="rect">
            <a:avLst/>
          </a:prstGeom>
          <a:solidFill>
            <a:srgbClr val="156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82696" y="2185416"/>
            <a:ext cx="122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ingest-ord
--limit 5000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35424" y="2400300"/>
            <a:ext cx="155448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690872" y="2148840"/>
            <a:ext cx="1298448" cy="502920"/>
          </a:xfrm>
          <a:prstGeom prst="rect">
            <a:avLst/>
          </a:prstGeom>
          <a:solidFill>
            <a:srgbClr val="278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36592" y="2185416"/>
            <a:ext cx="122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Schema mapping
(no LLM!)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89320" y="2400300"/>
            <a:ext cx="155448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144768" y="2148840"/>
            <a:ext cx="1298448" cy="50292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0488" y="2185416"/>
            <a:ext cx="122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Direct insert
ReactionRecord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443216" y="2400300"/>
            <a:ext cx="155448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7598663" y="2148840"/>
            <a:ext cx="1298448" cy="502920"/>
          </a:xfrm>
          <a:prstGeom prst="rect">
            <a:avLst/>
          </a:prstGeom>
          <a:solidFill>
            <a:srgbClr val="6B3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44383" y="2185416"/>
            <a:ext cx="122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reactions table
source='ord'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897111" y="2400300"/>
            <a:ext cx="155448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9052559" y="2148840"/>
            <a:ext cx="1298448" cy="502920"/>
          </a:xfrm>
          <a:prstGeom prst="rect">
            <a:avLst/>
          </a:prstGeom>
          <a:solidFill>
            <a:srgbClr val="6B3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98280" y="2185416"/>
            <a:ext cx="122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confidence=1.0
(expert curated)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0" y="2084831"/>
            <a:ext cx="914400" cy="25603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48072" y="2103120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73760"/>
                </a:solidFill>
                <a:latin typeface="Calibri"/>
              </a:rPr>
              <a:t>NO LLM!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29260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497D"/>
                </a:solidFill>
                <a:latin typeface="Calibri"/>
              </a:rPr>
              <a:t>↓ Both paths feed the same database 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280160" y="3429000"/>
            <a:ext cx="1920240" cy="6400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35024" y="347472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Same SQLite DB
reactions table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200400" y="3749039"/>
            <a:ext cx="146303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3346703" y="3429000"/>
            <a:ext cx="192024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01568" y="347472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FastAPI
Review UI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266944" y="3749039"/>
            <a:ext cx="146304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5413248" y="3429000"/>
            <a:ext cx="1920240" cy="640080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68112" y="347472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FTS5 Keyword
Search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333488" y="3749039"/>
            <a:ext cx="146304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7479792" y="3429000"/>
            <a:ext cx="1920240" cy="640080"/>
          </a:xfrm>
          <a:prstGeom prst="rect">
            <a:avLst/>
          </a:prstGeom>
          <a:solidFill>
            <a:srgbClr val="6B3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34656" y="347472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FAISS Semantic
Search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400032" y="3749039"/>
            <a:ext cx="146304" cy="0"/>
          </a:xfrm>
          <a:prstGeom prst="line">
            <a:avLst/>
          </a:prstGeom>
          <a:ln w="2540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9546336" y="3429000"/>
            <a:ext cx="192024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01200" y="3474720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Active Learning
Corrections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95959"/>
                </a:solidFill>
                <a:latin typeface="Calibri"/>
              </a:rPr>
              <a:t>Searchable Reaction Corpus — unified view across both patent-extracted and ORD curated reactions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Unified Reactions Database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40312" cy="457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515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reactions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1039922" cy="658368"/>
          </a:xfrm>
          <a:prstGeom prst="rect">
            <a:avLst/>
          </a:prstGeom>
          <a:solidFill>
            <a:srgbClr val="E8F0FE"/>
          </a:solidFill>
          <a:ln w="635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490472"/>
            <a:ext cx="98505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97D"/>
                </a:solidFill>
                <a:latin typeface="Calibri"/>
              </a:rPr>
              <a:t>reaction_id</a:t>
            </a:r>
          </a:p>
          <a:p>
            <a:pPr algn="l"/>
            <a:r>
              <a:rPr sz="700" b="0" i="0">
                <a:solidFill>
                  <a:srgbClr val="595959"/>
                </a:solidFill>
                <a:latin typeface="Calibri"/>
              </a:rPr>
              <a:t>TEXT PK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2530" y="1463040"/>
            <a:ext cx="103992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9106" y="1490472"/>
            <a:ext cx="98505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97D"/>
                </a:solidFill>
                <a:latin typeface="Calibri"/>
              </a:rPr>
              <a:t>patent_id</a:t>
            </a:r>
          </a:p>
          <a:p>
            <a:pPr algn="l"/>
            <a:r>
              <a:rPr sz="700" b="0" i="0">
                <a:solidFill>
                  <a:srgbClr val="595959"/>
                </a:solidFill>
                <a:latin typeface="Calibri"/>
              </a:rPr>
              <a:t>TEXT FK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90740" y="1463040"/>
            <a:ext cx="1039922" cy="658368"/>
          </a:xfrm>
          <a:prstGeom prst="rect">
            <a:avLst/>
          </a:prstGeom>
          <a:solidFill>
            <a:srgbClr val="E8F0FE"/>
          </a:solidFill>
          <a:ln w="635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7316" y="1490472"/>
            <a:ext cx="98505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97D"/>
                </a:solidFill>
                <a:latin typeface="Calibri"/>
              </a:rPr>
              <a:t>reaction_smarts</a:t>
            </a:r>
          </a:p>
          <a:p>
            <a:pPr algn="l"/>
            <a:r>
              <a:rPr sz="700" b="0" i="0">
                <a:solidFill>
                  <a:srgbClr val="595959"/>
                </a:solidFill>
                <a:latin typeface="Calibri"/>
              </a:rPr>
              <a:t>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8950" y="1463040"/>
            <a:ext cx="103992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5526" y="1490472"/>
            <a:ext cx="98505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97D"/>
                </a:solidFill>
                <a:latin typeface="Calibri"/>
              </a:rPr>
              <a:t>reactant_smiles_json</a:t>
            </a:r>
          </a:p>
          <a:p>
            <a:pPr algn="l"/>
            <a:r>
              <a:rPr sz="700" b="0" i="0">
                <a:solidFill>
                  <a:srgbClr val="595959"/>
                </a:solidFill>
                <a:latin typeface="Calibri"/>
              </a:rPr>
              <a:t>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07160" y="1463040"/>
            <a:ext cx="1039922" cy="658368"/>
          </a:xfrm>
          <a:prstGeom prst="rect">
            <a:avLst/>
          </a:prstGeom>
          <a:solidFill>
            <a:srgbClr val="E8F0FE"/>
          </a:solidFill>
          <a:ln w="635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3736" y="1490472"/>
            <a:ext cx="98505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97D"/>
                </a:solidFill>
                <a:latin typeface="Calibri"/>
              </a:rPr>
              <a:t>product_smiles</a:t>
            </a:r>
          </a:p>
          <a:p>
            <a:pPr algn="l"/>
            <a:r>
              <a:rPr sz="700" b="0" i="0">
                <a:solidFill>
                  <a:srgbClr val="595959"/>
                </a:solidFill>
                <a:latin typeface="Calibri"/>
              </a:rPr>
              <a:t>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65370" y="1463040"/>
            <a:ext cx="103992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01946" y="1490472"/>
            <a:ext cx="98505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97D"/>
                </a:solidFill>
                <a:latin typeface="Calibri"/>
              </a:rPr>
              <a:t>confidence</a:t>
            </a:r>
          </a:p>
          <a:p>
            <a:pPr algn="l"/>
            <a:r>
              <a:rPr sz="700" b="0" i="0">
                <a:solidFill>
                  <a:srgbClr val="595959"/>
                </a:solidFill>
                <a:latin typeface="Calibri"/>
              </a:rPr>
              <a:t>REAL 0–1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3581" y="1463040"/>
            <a:ext cx="1039922" cy="658368"/>
          </a:xfrm>
          <a:prstGeom prst="rect">
            <a:avLst/>
          </a:prstGeom>
          <a:solidFill>
            <a:srgbClr val="E8F0FE"/>
          </a:solidFill>
          <a:ln w="635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60157" y="1490472"/>
            <a:ext cx="98505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97D"/>
                </a:solidFill>
                <a:latin typeface="Calibri"/>
              </a:rPr>
              <a:t>yield_percent</a:t>
            </a:r>
          </a:p>
          <a:p>
            <a:pPr algn="l"/>
            <a:r>
              <a:rPr sz="700" b="0" i="0">
                <a:solidFill>
                  <a:srgbClr val="595959"/>
                </a:solidFill>
                <a:latin typeface="Calibri"/>
              </a:rPr>
              <a:t>REAL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1791" y="1463040"/>
            <a:ext cx="103992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18367" y="1490472"/>
            <a:ext cx="98505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97D"/>
                </a:solidFill>
                <a:latin typeface="Calibri"/>
              </a:rPr>
              <a:t>temperature_celsius</a:t>
            </a:r>
          </a:p>
          <a:p>
            <a:pPr algn="l"/>
            <a:r>
              <a:rPr sz="700" b="0" i="0">
                <a:solidFill>
                  <a:srgbClr val="595959"/>
                </a:solidFill>
                <a:latin typeface="Calibri"/>
              </a:rPr>
              <a:t>REAL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40001" y="1463040"/>
            <a:ext cx="1039922" cy="658368"/>
          </a:xfrm>
          <a:prstGeom prst="rect">
            <a:avLst/>
          </a:prstGeom>
          <a:solidFill>
            <a:srgbClr val="E8F0FE"/>
          </a:solidFill>
          <a:ln w="635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6577" y="1490472"/>
            <a:ext cx="98505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97D"/>
                </a:solidFill>
                <a:latin typeface="Calibri"/>
              </a:rPr>
              <a:t>solvent</a:t>
            </a:r>
          </a:p>
          <a:p>
            <a:pPr algn="l"/>
            <a:r>
              <a:rPr sz="700" b="0" i="0">
                <a:solidFill>
                  <a:srgbClr val="595959"/>
                </a:solidFill>
                <a:latin typeface="Calibri"/>
              </a:rPr>
              <a:t>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98211" y="1463040"/>
            <a:ext cx="103992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34787" y="1490472"/>
            <a:ext cx="98505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97D"/>
                </a:solidFill>
                <a:latin typeface="Calibri"/>
              </a:rPr>
              <a:t>catalyst</a:t>
            </a:r>
          </a:p>
          <a:p>
            <a:pPr algn="l"/>
            <a:r>
              <a:rPr sz="700" b="0" i="0">
                <a:solidFill>
                  <a:srgbClr val="595959"/>
                </a:solidFill>
                <a:latin typeface="Calibri"/>
              </a:rPr>
              <a:t>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56421" y="1463040"/>
            <a:ext cx="1039922" cy="658368"/>
          </a:xfrm>
          <a:prstGeom prst="rect">
            <a:avLst/>
          </a:prstGeom>
          <a:solidFill>
            <a:srgbClr val="F0A500"/>
          </a:solidFill>
          <a:ln w="635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92997" y="1490472"/>
            <a:ext cx="98505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73760"/>
                </a:solidFill>
                <a:latin typeface="Calibri"/>
              </a:rPr>
              <a:t>source</a:t>
            </a:r>
          </a:p>
          <a:p>
            <a:pPr algn="l"/>
            <a:r>
              <a:rPr sz="700" b="0" i="0">
                <a:solidFill>
                  <a:srgbClr val="173760"/>
                </a:solidFill>
                <a:latin typeface="Calibri"/>
              </a:rPr>
              <a:t>TEXT ★ NEW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286000"/>
            <a:ext cx="2834640" cy="1325880"/>
          </a:xfrm>
          <a:prstGeom prst="rect">
            <a:avLst/>
          </a:prstGeom>
          <a:solidFill>
            <a:srgbClr val="F0A50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2331720"/>
            <a:ext cx="26700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★ source column (NEW)</a:t>
            </a:r>
          </a:p>
          <a:p>
            <a:pPr algn="l"/>
            <a:r>
              <a:rPr sz="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Values: 'patent' (LLM-extracted) or 'ord' (expert-curated)
Auto-migrated on startup — no manual ALTER needed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2286000"/>
            <a:ext cx="2834640" cy="1325880"/>
          </a:xfrm>
          <a:prstGeom prst="rect">
            <a:avLst/>
          </a:prstGeom>
          <a:solidFill>
            <a:srgbClr val="2E75B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55848" y="2331720"/>
            <a:ext cx="26700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confidence column</a:t>
            </a:r>
          </a:p>
          <a:p>
            <a:pPr algn="l"/>
            <a:r>
              <a:rPr sz="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LLM-extracted: 0.0–1.0 (scored by RDKit + PubChem)
ORD reactions: always 1.0 (expert-curated)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286000"/>
            <a:ext cx="2834640" cy="1325880"/>
          </a:xfrm>
          <a:prstGeom prst="rect">
            <a:avLst/>
          </a:prstGeom>
          <a:solidFill>
            <a:srgbClr val="2D7D4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2331720"/>
            <a:ext cx="26700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Search indexes</a:t>
            </a:r>
          </a:p>
          <a:p>
            <a:pPr algn="l"/>
            <a:r>
              <a:rPr sz="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FTS5 virtual tables: patents_fts, reactions_fts
Optional: FAISS vector index (build_semantic_index)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9720" y="2286000"/>
            <a:ext cx="2834640" cy="1325880"/>
          </a:xfrm>
          <a:prstGeom prst="rect">
            <a:avLst/>
          </a:prstGeom>
          <a:solidFill>
            <a:srgbClr val="6B3C9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9448" y="2331720"/>
            <a:ext cx="26700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Other tables</a:t>
            </a:r>
          </a:p>
          <a:p>
            <a:pPr algn="l"/>
            <a:r>
              <a:rPr sz="300" b="0" i="0">
                <a:solidFill>
                  <a:srgbClr val="1A1A2E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raw_documents, parse_queue, active_learning, crawl_runs
Foreign key: reactions.patent_id → patents.patent_id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767328"/>
            <a:ext cx="11640312" cy="292608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379476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497D"/>
                </a:solidFill>
                <a:latin typeface="Calibri"/>
              </a:rPr>
              <a:t>Six tables:   raw_documents  ·  patents  ·  reactions  ·  parse_queue  ·  active_learning  ·  crawl_runs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4187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95959"/>
                </a:solidFill>
                <a:latin typeface="Calibri"/>
              </a:rPr>
              <a:t>SQLite with WAL mode — portable, runs on USB drives. FTS5 for keyword search. FAISS for semantic search (optional).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2304288" cy="34747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60704"/>
            <a:ext cx="21854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39" y="1005840"/>
            <a:ext cx="2807208" cy="34747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79" y="1060704"/>
            <a:ext cx="2688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Technology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40680" y="1005840"/>
            <a:ext cx="6144768" cy="34747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1060704"/>
            <a:ext cx="60258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Purpose / 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53312"/>
            <a:ext cx="2304288" cy="329184"/>
          </a:xfrm>
          <a:prstGeom prst="rect">
            <a:avLst/>
          </a:prstGeom>
          <a:solidFill>
            <a:srgbClr val="ECF2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380744"/>
            <a:ext cx="218541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Route Validation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39" y="1353312"/>
            <a:ext cx="2807208" cy="329184"/>
          </a:xfrm>
          <a:prstGeom prst="rect">
            <a:avLst/>
          </a:prstGeom>
          <a:solidFill>
            <a:srgbClr val="ECF2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97479" y="1380744"/>
            <a:ext cx="26883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RDKit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80" y="1353312"/>
            <a:ext cx="6144768" cy="329184"/>
          </a:xfrm>
          <a:prstGeom prst="rect">
            <a:avLst/>
          </a:prstGeom>
          <a:solidFill>
            <a:srgbClr val="ECF2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1380744"/>
            <a:ext cx="6025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SMILES + reaction template checks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700784"/>
            <a:ext cx="230428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728216"/>
            <a:ext cx="218541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Agent Orchestration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39" y="1700784"/>
            <a:ext cx="280720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79" y="1728216"/>
            <a:ext cx="26883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Pydantic AI + Gemini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40680" y="1700784"/>
            <a:ext cx="614476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32120" y="1728216"/>
            <a:ext cx="6025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4 parallel specialist agents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048256"/>
            <a:ext cx="2304288" cy="329184"/>
          </a:xfrm>
          <a:prstGeom prst="rect">
            <a:avLst/>
          </a:prstGeom>
          <a:solidFill>
            <a:srgbClr val="ECF2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075688"/>
            <a:ext cx="218541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Building Blocks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39" y="2048256"/>
            <a:ext cx="2807208" cy="329184"/>
          </a:xfrm>
          <a:prstGeom prst="rect">
            <a:avLst/>
          </a:prstGeom>
          <a:solidFill>
            <a:srgbClr val="ECF2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97479" y="2075688"/>
            <a:ext cx="26883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ChemSpace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40680" y="2048256"/>
            <a:ext cx="6144768" cy="329184"/>
          </a:xfrm>
          <a:prstGeom prst="rect">
            <a:avLst/>
          </a:prstGeom>
          <a:solidFill>
            <a:srgbClr val="ECF2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32120" y="2075688"/>
            <a:ext cx="6025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Pricing + commercial availability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395728"/>
            <a:ext cx="230428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2423160"/>
            <a:ext cx="218541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Hazard Scoring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06039" y="2395728"/>
            <a:ext cx="280720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79" y="2423160"/>
            <a:ext cx="26883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PubChem REST API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40680" y="2395728"/>
            <a:ext cx="614476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2120" y="2423160"/>
            <a:ext cx="6025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GHS codes, safety 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743200"/>
            <a:ext cx="2304288" cy="329184"/>
          </a:xfrm>
          <a:prstGeom prst="rect">
            <a:avLst/>
          </a:prstGeom>
          <a:solidFill>
            <a:srgbClr val="ECF2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770632"/>
            <a:ext cx="218541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Web Scraping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39" y="2743200"/>
            <a:ext cx="2807208" cy="329184"/>
          </a:xfrm>
          <a:prstGeom prst="rect">
            <a:avLst/>
          </a:prstGeom>
          <a:solidFill>
            <a:srgbClr val="ECF2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97479" y="2770632"/>
            <a:ext cx="26883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Scrapling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40680" y="2743200"/>
            <a:ext cx="6144768" cy="329184"/>
          </a:xfrm>
          <a:prstGeom prst="rect">
            <a:avLst/>
          </a:prstGeom>
          <a:solidFill>
            <a:srgbClr val="ECF2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532120" y="2770632"/>
            <a:ext cx="6025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Static / dynamic / stealth profiles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090672"/>
            <a:ext cx="230428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3118103"/>
            <a:ext cx="218541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LLM Extraction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06039" y="3090672"/>
            <a:ext cx="280720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97479" y="3118103"/>
            <a:ext cx="26883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Gemini 2.0 Flash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40680" y="3090672"/>
            <a:ext cx="614476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32120" y="3118103"/>
            <a:ext cx="6025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Structured JSON from patent text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438144"/>
            <a:ext cx="2304288" cy="329184"/>
          </a:xfrm>
          <a:prstGeom prst="rect">
            <a:avLst/>
          </a:prstGeom>
          <a:solidFill>
            <a:srgbClr val="ECF2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465576"/>
            <a:ext cx="218541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HPC Inference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39" y="3438144"/>
            <a:ext cx="2807208" cy="329184"/>
          </a:xfrm>
          <a:prstGeom prst="rect">
            <a:avLst/>
          </a:prstGeom>
          <a:solidFill>
            <a:srgbClr val="ECF2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97479" y="3465576"/>
            <a:ext cx="26883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Qwen-27B + vLLM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40680" y="3438144"/>
            <a:ext cx="6144768" cy="329184"/>
          </a:xfrm>
          <a:prstGeom prst="rect">
            <a:avLst/>
          </a:prstGeom>
          <a:solidFill>
            <a:srgbClr val="ECF2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32120" y="3465576"/>
            <a:ext cx="6025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Local LLM on Savio GPU cluster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785616"/>
            <a:ext cx="230428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3813048"/>
            <a:ext cx="218541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Database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06039" y="3785616"/>
            <a:ext cx="280720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7479" y="3813048"/>
            <a:ext cx="26883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SQLite + FTS5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40680" y="3785616"/>
            <a:ext cx="614476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32120" y="3813048"/>
            <a:ext cx="6025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Portable, zero-config, USB-friendly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133087"/>
            <a:ext cx="2304288" cy="329184"/>
          </a:xfrm>
          <a:prstGeom prst="rect">
            <a:avLst/>
          </a:prstGeom>
          <a:solidFill>
            <a:srgbClr val="ECF2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4160520"/>
            <a:ext cx="218541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Semantic Search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606039" y="4133087"/>
            <a:ext cx="2807208" cy="329184"/>
          </a:xfrm>
          <a:prstGeom prst="rect">
            <a:avLst/>
          </a:prstGeom>
          <a:solidFill>
            <a:srgbClr val="ECF2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697479" y="4160520"/>
            <a:ext cx="26883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FAISS + sentence-transformers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40680" y="4133087"/>
            <a:ext cx="6144768" cy="329184"/>
          </a:xfrm>
          <a:prstGeom prst="rect">
            <a:avLst/>
          </a:prstGeom>
          <a:solidFill>
            <a:srgbClr val="ECF2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32120" y="4160520"/>
            <a:ext cx="6025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Vector similarity (optional)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4480560"/>
            <a:ext cx="230428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4507992"/>
            <a:ext cx="218541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Review UI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06039" y="4480560"/>
            <a:ext cx="280720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97479" y="4507992"/>
            <a:ext cx="26883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FastAPI + Jinja2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4480560"/>
            <a:ext cx="614476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32120" y="4507992"/>
            <a:ext cx="6025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Human-in-the-loop corrections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4828031"/>
            <a:ext cx="2304288" cy="329184"/>
          </a:xfrm>
          <a:prstGeom prst="rect">
            <a:avLst/>
          </a:prstGeom>
          <a:solidFill>
            <a:srgbClr val="ECF2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4855464"/>
            <a:ext cx="218541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Bulk Patents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06039" y="4828031"/>
            <a:ext cx="2807208" cy="329184"/>
          </a:xfrm>
          <a:prstGeom prst="rect">
            <a:avLst/>
          </a:prstGeom>
          <a:solidFill>
            <a:srgbClr val="ECF2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97479" y="4855464"/>
            <a:ext cx="26883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PatentsView API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40680" y="4828031"/>
            <a:ext cx="6144768" cy="329184"/>
          </a:xfrm>
          <a:prstGeom prst="rect">
            <a:avLst/>
          </a:prstGeom>
          <a:solidFill>
            <a:srgbClr val="ECF2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32120" y="4855464"/>
            <a:ext cx="6025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Weekly USPTO grants (free, no key)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5175504"/>
            <a:ext cx="230428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5202936"/>
            <a:ext cx="218541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Reaction Corpus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606039" y="5175504"/>
            <a:ext cx="280720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97479" y="5202936"/>
            <a:ext cx="26883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ORD / HuggingFace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440680" y="5175504"/>
            <a:ext cx="6144768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532120" y="5202936"/>
            <a:ext cx="6025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Expert-curated, no LLM needed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5522976"/>
            <a:ext cx="2304288" cy="329184"/>
          </a:xfrm>
          <a:prstGeom prst="rect">
            <a:avLst/>
          </a:prstGeom>
          <a:solidFill>
            <a:srgbClr val="ECF2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5760" y="5550408"/>
            <a:ext cx="218541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CLI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06039" y="5522976"/>
            <a:ext cx="2807208" cy="329184"/>
          </a:xfrm>
          <a:prstGeom prst="rect">
            <a:avLst/>
          </a:prstGeom>
          <a:solidFill>
            <a:srgbClr val="ECF2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97479" y="5550408"/>
            <a:ext cx="268833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Typer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40680" y="5522976"/>
            <a:ext cx="6144768" cy="329184"/>
          </a:xfrm>
          <a:prstGeom prst="rect">
            <a:avLst/>
          </a:prstGeom>
          <a:solidFill>
            <a:srgbClr val="ECF2FF"/>
          </a:solidFill>
          <a:ln w="5080">
            <a:solidFill>
              <a:srgbClr val="CCD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532120" y="5550408"/>
            <a:ext cx="6025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All pipeline stages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Key Design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64008" cy="8046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1097280"/>
            <a:ext cx="542239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61288"/>
            <a:ext cx="5193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Calibri"/>
              </a:rPr>
              <a:t>Separate package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Patent pipeline has its own pyproject.toml — fully decoupled from route evaluation.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4768" y="1097280"/>
            <a:ext cx="64008" cy="8046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08776" y="1097280"/>
            <a:ext cx="542239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161288"/>
            <a:ext cx="5193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28090"/>
                </a:solidFill>
                <a:latin typeface="Calibri"/>
              </a:rPr>
              <a:t>SQLite not Postgres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Portable: runs on USB drives, zero-config, WAL mode for concurrent reads.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29967"/>
            <a:ext cx="64008" cy="80467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" y="2029967"/>
            <a:ext cx="542239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93975"/>
            <a:ext cx="5193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A500"/>
                </a:solidFill>
                <a:latin typeface="Calibri"/>
              </a:rPr>
              <a:t>source column (NEW)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Same reactions table, two origins: 'patent' (LLM, conf 0–1) and 'ord' (curated, conf 1.0).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2029967"/>
            <a:ext cx="64008" cy="804672"/>
          </a:xfrm>
          <a:prstGeom prst="rect">
            <a:avLst/>
          </a:prstGeom>
          <a:solidFill>
            <a:srgbClr val="2D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2029967"/>
            <a:ext cx="542239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093975"/>
            <a:ext cx="5193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D7D46"/>
                </a:solidFill>
                <a:latin typeface="Calibri"/>
              </a:rPr>
              <a:t>No LLM for ORD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Bypasses Gemini entirely — saves API cost and eliminates SMILES hallucination risk.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62656"/>
            <a:ext cx="64008" cy="804672"/>
          </a:xfrm>
          <a:prstGeom prst="rect">
            <a:avLst/>
          </a:prstGeom>
          <a:solidFill>
            <a:srgbClr val="6B3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" y="2962656"/>
            <a:ext cx="542239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26664"/>
            <a:ext cx="5193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B3C9E"/>
                </a:solidFill>
                <a:latin typeface="Calibri"/>
              </a:rPr>
              <a:t>Active learning logs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Every human correction stored in active_learning for future LLM fine-tuning / RLHF.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2962656"/>
            <a:ext cx="64008" cy="804672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8776" y="2962656"/>
            <a:ext cx="542239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026664"/>
            <a:ext cx="5193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F5496"/>
                </a:solidFill>
                <a:latin typeface="Calibri"/>
              </a:rPr>
              <a:t>FTS5 + FAISS dual search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FTS5 keyword search (zero deps); FAISS semantic search is optional, built on demand.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895344"/>
            <a:ext cx="64008" cy="8046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328" y="3895344"/>
            <a:ext cx="542239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959352"/>
            <a:ext cx="5193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0392B"/>
                </a:solidFill>
                <a:latin typeface="Calibri"/>
              </a:rPr>
              <a:t>Confidence threshold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Reactions below 0.6 surfaced at /batch_review for human correction before use.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3895344"/>
            <a:ext cx="64008" cy="804672"/>
          </a:xfrm>
          <a:prstGeom prst="rect">
            <a:avLst/>
          </a:prstGeom>
          <a:solidFill>
            <a:srgbClr val="7D6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08776" y="3895344"/>
            <a:ext cx="5422392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3959352"/>
            <a:ext cx="5193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D6008"/>
                </a:solidFill>
                <a:latin typeface="Calibri"/>
              </a:rPr>
              <a:t>PatentsView API</a:t>
            </a:r>
          </a:p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Free, no API key required, weekly USPTO grants, CPC chemistry filter built-in.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3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Summary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5577840" cy="5394960"/>
          </a:xfrm>
          <a:prstGeom prst="rect">
            <a:avLst/>
          </a:prstGeom>
          <a:solidFill>
            <a:srgbClr val="24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libri"/>
              </a:rPr>
              <a:t>✓  What Was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D8FF"/>
                </a:solidFill>
                <a:latin typeface="Calibri"/>
              </a:rPr>
              <a:t>✓  Patent Ingestion Pipeline (separate package)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A0D8FF"/>
                </a:solidFill>
                <a:latin typeface="Calibri"/>
              </a:rPr>
              <a:t>✓  SQLite reaction database — 6 tables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A0D8FF"/>
                </a:solidFill>
                <a:latin typeface="Calibri"/>
              </a:rPr>
              <a:t>✓  Gemini LLM parser + confidence scoring (0–1)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A0D8FF"/>
                </a:solidFill>
                <a:latin typeface="Calibri"/>
              </a:rPr>
              <a:t>✓  FastAPI review UI with active learning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A0D8FF"/>
                </a:solidFill>
                <a:latin typeface="Calibri"/>
              </a:rPr>
              <a:t>✓  bulk_downloader.py — PatentsView weekly CSV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A0D8FF"/>
                </a:solidFill>
                <a:latin typeface="Calibri"/>
              </a:rPr>
              <a:t>✓  csv_ingestion.py — drop CSV into /upload-csv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A0D8FF"/>
                </a:solidFill>
                <a:latin typeface="Calibri"/>
              </a:rPr>
              <a:t>✓  ord_ingestion.py — HuggingFace ORD import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A0D8FF"/>
                </a:solidFill>
                <a:latin typeface="Calibri"/>
              </a:rPr>
              <a:t>✓  CSV upload endpoint (/upload-csv + /api/upload-csv)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A0D8FF"/>
                </a:solidFill>
                <a:latin typeface="Calibri"/>
              </a:rPr>
              <a:t>✓  source column migration in reactions 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51560"/>
            <a:ext cx="5577840" cy="5394960"/>
          </a:xfrm>
          <a:prstGeom prst="rect">
            <a:avLst/>
          </a:prstGeom>
          <a:solidFill>
            <a:srgbClr val="1A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1430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  <a:latin typeface="Calibri"/>
              </a:rPr>
              <a:t>→  Suggested 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5303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FFC0"/>
                </a:solidFill>
                <a:latin typeface="Calibri"/>
              </a:rPr>
              <a:t>→  Run: patent-pipeline download-bulk 2024 1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A0FFC0"/>
                </a:solidFill>
                <a:latin typeface="Calibri"/>
              </a:rPr>
              <a:t>→  Drop CSV into /upload-csv, then start run-worker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A0FFC0"/>
                </a:solidFill>
                <a:latin typeface="Calibri"/>
              </a:rPr>
              <a:t>→  Run: patent-pipeline ingest-ord --limit 5000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A0FFC0"/>
                </a:solidFill>
                <a:latin typeface="Calibri"/>
              </a:rPr>
              <a:t>→  Build FAISS semantic index for reaction search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A0FFC0"/>
                </a:solidFill>
                <a:latin typeface="Calibri"/>
              </a:rPr>
              <a:t>→  Review /batch_review — collect corrections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A0FFC0"/>
                </a:solidFill>
                <a:latin typeface="Calibri"/>
              </a:rPr>
              <a:t>→  Grow active_learning corpus for LLM fine-tuning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A0FFC0"/>
                </a:solidFill>
                <a:latin typeface="Calibri"/>
              </a:rPr>
              <a:t>→  Wire up ORD tool stub in main SynAgent agent</a:t>
            </a:r>
          </a:p>
          <a:p>
            <a:pPr algn="l">
              <a:spcBef>
                <a:spcPts val="300"/>
              </a:spcBef>
            </a:pPr>
            <a:r>
              <a:rPr sz="1100" b="0" i="0">
                <a:solidFill>
                  <a:srgbClr val="A0FFC0"/>
                </a:solidFill>
                <a:latin typeface="Calibri"/>
              </a:rPr>
              <a:t>→  Scale: HPC Savio + Qwen-27B for offline parsing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
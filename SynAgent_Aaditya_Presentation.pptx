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1097280"/>
            <a:ext cx="3200400" cy="32004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5029200"/>
            <a:ext cx="2286000" cy="2286000"/>
          </a:xfrm>
          <a:prstGeom prst="ellipse">
            <a:avLst/>
          </a:prstGeom>
          <a:solidFill>
            <a:srgbClr val="0D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5400" b="1" i="0">
                <a:solidFill>
                  <a:srgbClr val="FFFFFF"/>
                </a:solidFill>
                <a:latin typeface="Georgia"/>
              </a:rPr>
              <a:t>SynAgent: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4000" b="0" i="0">
                <a:solidFill>
                  <a:srgbClr val="7DD3FC"/>
                </a:solidFill>
                <a:latin typeface="Georgia"/>
              </a:rPr>
              <a:t>Patent 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600" b="0" i="0">
                <a:solidFill>
                  <a:srgbClr val="CBD5E1"/>
                </a:solidFill>
                <a:latin typeface="Calibri"/>
              </a:rPr>
              <a:t>Mining Chemical Synthesis Data from Unstructured Patent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Aaditya N Sanil  ·  asanil@berkeley.edu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Gap in Retrosynthesis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5303520" cy="3474720"/>
          </a:xfrm>
          <a:prstGeom prst="rect">
            <a:avLst/>
          </a:prstGeom>
          <a:solidFill>
            <a:srgbClr val="E8F5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✓  What SynAgent Does Great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937760" cy="2651760"/>
          </a:xfrm>
          <a:prstGeom prst="rect">
            <a:avLst/>
          </a:prstGeom>
          <a:noFill/>
        </p:spPr>
        <p:txBody>
          <a:bodyPr wrap="square" lIns="45720" rIns="45720" tIns="36576" bIns="36576" anchor="t"/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Validates reaction SMARTS and SMILES via RDKit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Prices building blocks via ChemSpace API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Scores route hazard using PubChem GHS codes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Gemini LLM orchestrates 4 parallel specialist agents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Handles full retrosynthesis route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30352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344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✗  What Was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029200" cy="2651760"/>
          </a:xfrm>
          <a:prstGeom prst="rect">
            <a:avLst/>
          </a:prstGeom>
          <a:noFill/>
        </p:spPr>
        <p:txBody>
          <a:bodyPr wrap="square" lIns="45720" rIns="45720" tIns="36576" bIns="36576" anchor="t"/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No experimental precedent for proposed reactions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No yield data from real literature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No connection to patent databases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Routes scored on price &amp; hazard — not feasibility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No way to ask: has this reaction been done before?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46320"/>
            <a:ext cx="114300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400" b="0" i="0">
                <a:solidFill>
                  <a:srgbClr val="92400E"/>
                </a:solidFill>
                <a:latin typeface="Calibri"/>
              </a:rPr>
              <a:t>Goal: Add a real reaction corpus so SynAgent can answer — has this reaction been done before, and what yield did it achieve?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What I Built — Three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611880" cy="5120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325880"/>
            <a:ext cx="685800" cy="685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25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333756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Patent Ingestion
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246120" cy="29260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Mine synthesis reactions from chemistry paper abstracts using Gemini LLM.
Extracts: reaction SMARTS, yield, temperature, solvent, catalyst.
Rate-limited worker with supervisor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143000"/>
            <a:ext cx="3611880" cy="5120640"/>
          </a:xfrm>
          <a:prstGeom prst="rect">
            <a:avLst/>
          </a:prstGeom>
          <a:solidFill>
            <a:srgbClr val="0A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1325880"/>
            <a:ext cx="685800" cy="685800"/>
          </a:xfrm>
          <a:prstGeom prst="ellipse">
            <a:avLst/>
          </a:prstGeom>
          <a:solidFill>
            <a:srgbClr val="0A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325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33756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Reaction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3246120" cy="29260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SQLite + FTS5 full-text search.
16,831 reactions indexed.
Two sources:
• ORD expert-curated (confidence=1.0)
• LLM-extracted from patents (0–1)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43000"/>
            <a:ext cx="3611880" cy="5120640"/>
          </a:xfrm>
          <a:prstGeom prst="rect">
            <a:avLst/>
          </a:prstGeom>
          <a:solidFill>
            <a:srgbClr val="3B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66960" y="1325880"/>
            <a:ext cx="685800" cy="685800"/>
          </a:xfrm>
          <a:prstGeom prst="ellipse">
            <a:avLst/>
          </a:prstGeom>
          <a:solidFill>
            <a:srgbClr val="3B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325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148840"/>
            <a:ext cx="333756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Search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017520"/>
            <a:ext cx="3246120" cy="29260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Standalone FastAPI web app on port 8001.
Search by keyword, SMILES, or SMARTS.
Filter by yield, source, confidence.
Card results with one-click copy.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Two Ways Reactions Enter the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1920240"/>
          </a:xfrm>
          <a:prstGeom prst="rect">
            <a:avLst/>
          </a:prstGeom>
          <a:solidFill>
            <a:srgbClr val="EBF5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PATH A — Patent Mining (LLM Extraction)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27632"/>
            <a:ext cx="1600200" cy="6583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Europe PMC
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883664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8296" y="1810512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1627632"/>
            <a:ext cx="16002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627632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Fetch
Abstracts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883664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4256" y="1810512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27632"/>
            <a:ext cx="16002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27632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parse_queue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83664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0216" y="1810512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27632"/>
            <a:ext cx="1600200" cy="658368"/>
          </a:xfrm>
          <a:prstGeom prst="rect">
            <a:avLst/>
          </a:prstGeom>
          <a:solidFill>
            <a:srgbClr val="0A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27632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Gemini 2.5
Flash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1883664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66176" y="1810512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1627632"/>
            <a:ext cx="1600200" cy="658368"/>
          </a:xfrm>
          <a:prstGeom prst="rect">
            <a:avLst/>
          </a:prstGeom>
          <a:solidFill>
            <a:srgbClr val="0A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627632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JSON
Extraction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883664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32136" y="1810512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1627632"/>
            <a:ext cx="1600200" cy="65836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1627632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reactions
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377440"/>
            <a:ext cx="11155680" cy="32004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source='patent' · confidence=0.0–1.0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46120"/>
            <a:ext cx="1161288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375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PATH B — ORD Direct  (No LLM — Expert Curated)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749039"/>
            <a:ext cx="1600200" cy="65836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749039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HuggingFace
ORD Dataset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005072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68296" y="3931920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3749039"/>
            <a:ext cx="1600200" cy="65836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3749039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ord_ingestion
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4005072"/>
            <a:ext cx="365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34256" y="3931920"/>
            <a:ext cx="109728" cy="18288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749039"/>
            <a:ext cx="1600200" cy="65836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749039"/>
            <a:ext cx="1600200" cy="6583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reactions
table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657600"/>
            <a:ext cx="713232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703320"/>
            <a:ext cx="6858000" cy="731520"/>
          </a:xfrm>
          <a:prstGeom prst="rect">
            <a:avLst/>
          </a:prstGeom>
          <a:noFill/>
        </p:spPr>
        <p:txBody>
          <a:bodyPr wrap="square" lIns="45720" rIns="45720" tIns="36576" bIns="36576" anchor="t"/>
          <a:lstStyle/>
          <a:p>
            <a:pPr algn="l">
              <a:lnSpc>
                <a:spcPts val="2000"/>
              </a:lnSpc>
            </a:pPr>
            <a:r>
              <a:rPr sz="1200" b="1">
                <a:solidFill>
                  <a:srgbClr val="065F46"/>
                </a:solidFill>
                <a:latin typeface="Calibri"/>
              </a:rPr>
              <a:t>No LLM needed — data is pre-structured by expert chemists</a:t>
            </a:r>
          </a:p>
          <a:p>
            <a:pPr algn="l">
              <a:lnSpc>
                <a:spcPts val="2000"/>
              </a:lnSpc>
            </a:pPr>
            <a:r>
              <a:rPr sz="1100" b="0">
                <a:solidFill>
                  <a:srgbClr val="065F46"/>
                </a:solidFill>
                <a:latin typeface="Calibri"/>
              </a:rPr>
              <a:t>source='ord' · confidence=1.0 · zero hallucination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212080"/>
            <a:ext cx="11430000" cy="4114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↑ Both paths write to the same SQLite reactions table with FTS5 full-text search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How Gemini Extracts Reactions from Text</a:t>
            </a:r>
          </a:p>
        </p:txBody>
      </p:sp>
      <p:sp>
        <p:nvSpPr>
          <p:cNvPr id="4" name="Oval 3"/>
          <p:cNvSpPr/>
          <p:nvPr/>
        </p:nvSpPr>
        <p:spPr>
          <a:xfrm>
            <a:off x="320040" y="11430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530352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Raw Paper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19"/>
            <a:ext cx="530352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Abstract + methods section fetched from Europe PMC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645919"/>
            <a:ext cx="73152" cy="2560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2075687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75687"/>
            <a:ext cx="502920" cy="5029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7"/>
            <a:ext cx="530352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Prompt Sent to Gemini 2.5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530352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"Extract all chemical reactions as JSON: reaction_smarts, reactants, product, yield_percent, temperature_celsius, solvent, catalyst, confidence"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578608"/>
            <a:ext cx="73152" cy="2560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" y="3008375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08375"/>
            <a:ext cx="502920" cy="5029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62656"/>
            <a:ext cx="530352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Structured JSON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530352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Gemini returns machine-readable reaction data with confidence score (0–1)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511296"/>
            <a:ext cx="73152" cy="2560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0040" y="3941063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41063"/>
            <a:ext cx="502920" cy="5029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95344"/>
            <a:ext cx="530352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RDKit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15383"/>
            <a:ext cx="530352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SMILES canonicalized, reaction SMARTS validated, invalid structures filtered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443983"/>
            <a:ext cx="73152" cy="2560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0040" y="4873751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873751"/>
            <a:ext cx="502920" cy="50292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28031"/>
            <a:ext cx="530352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Stored in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48071"/>
            <a:ext cx="5303520" cy="4572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Inserted into reactions table with source='patent', ready for FTS5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097280"/>
            <a:ext cx="5120640" cy="283464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188720"/>
            <a:ext cx="4754880" cy="4114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92400E"/>
                </a:solidFill>
                <a:latin typeface="Calibri"/>
              </a:rPr>
              <a:t>⚠  Rate Limit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691640"/>
            <a:ext cx="4754880" cy="2011680"/>
          </a:xfrm>
          <a:prstGeom prst="rect">
            <a:avLst/>
          </a:prstGeom>
          <a:noFill/>
        </p:spPr>
        <p:txBody>
          <a:bodyPr wrap="square" lIns="45720" rIns="45720" tIns="36576" bIns="36576" anchor="t"/>
          <a:lstStyle/>
          <a:p>
            <a:pPr algn="l">
              <a:lnSpc>
                <a:spcPts val="2000"/>
              </a:lnSpc>
            </a:pPr>
            <a:r>
              <a:rPr sz="1200" b="0">
                <a:solidFill>
                  <a:srgbClr val="92400E"/>
                </a:solidFill>
                <a:latin typeface="Calibri"/>
              </a:rPr>
              <a:t>Free tier: 15 RPM / ~1,500 req/day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2400E"/>
                </a:solidFill>
                <a:latin typeface="Calibri"/>
              </a:rPr>
              <a:t>Pacing: 7 RPM (8s heartbeat delay)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2400E"/>
                </a:solidFill>
                <a:latin typeface="Calibri"/>
              </a:rPr>
              <a:t>run_loop.py supervisor auto-restarts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2400E"/>
                </a:solidFill>
                <a:latin typeface="Calibri"/>
              </a:rPr>
              <a:t>on rate-limit failures (429 errors)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2400E"/>
                </a:solidFill>
                <a:latin typeface="Calibri"/>
              </a:rPr>
              <a:t>GEMINI_MODEL env var — swap models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92400E"/>
                </a:solidFill>
                <a:latin typeface="Calibri"/>
              </a:rPr>
              <a:t>without code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114800"/>
            <a:ext cx="5120640" cy="24688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206240"/>
            <a:ext cx="47548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065F46"/>
                </a:solidFill>
                <a:latin typeface="Calibri"/>
              </a:rPr>
              <a:t>📊  Current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663440"/>
            <a:ext cx="4754880" cy="1783080"/>
          </a:xfrm>
          <a:prstGeom prst="rect">
            <a:avLst/>
          </a:prstGeom>
          <a:noFill/>
        </p:spPr>
        <p:txBody>
          <a:bodyPr wrap="square" lIns="45720" rIns="45720" tIns="36576" bIns="36576" anchor="t"/>
          <a:lstStyle/>
          <a:p>
            <a:pPr algn="l">
              <a:lnSpc>
                <a:spcPts val="2000"/>
              </a:lnSpc>
            </a:pPr>
            <a:r>
              <a:rPr sz="1200" b="0">
                <a:solidFill>
                  <a:srgbClr val="065F46"/>
                </a:solidFill>
                <a:latin typeface="Calibri"/>
              </a:rPr>
              <a:t>1,542 papers fetched from Europe PMC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065F46"/>
                </a:solidFill>
                <a:latin typeface="Calibri"/>
              </a:rPr>
              <a:t>1,700+ papers queued for parsing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065F46"/>
                </a:solidFill>
                <a:latin typeface="Calibri"/>
              </a:rPr>
              <a:t>81 reactions extracted (LLM)</a:t>
            </a:r>
          </a:p>
          <a:p>
            <a:pPr algn="l">
              <a:lnSpc>
                <a:spcPts val="2000"/>
              </a:lnSpc>
            </a:pPr>
            <a:r>
              <a:rPr sz="1200" b="0">
                <a:solidFill>
                  <a:srgbClr val="065F46"/>
                </a:solidFill>
                <a:latin typeface="Calibri"/>
              </a:rPr>
              <a:t>16,750 reactions from ORD corpus</a:t>
            </a:r>
          </a:p>
          <a:p>
            <a:pPr algn="l">
              <a:lnSpc>
                <a:spcPts val="2000"/>
              </a:lnSpc>
            </a:pPr>
            <a:r>
              <a:rPr sz="1300" b="1">
                <a:solidFill>
                  <a:srgbClr val="065F46"/>
                </a:solidFill>
                <a:latin typeface="Calibri"/>
              </a:rPr>
              <a:t>16,831 total reactions in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Unified Reactions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697480" cy="1645920"/>
          </a:xfrm>
          <a:prstGeom prst="rect">
            <a:avLst/>
          </a:prstGeom>
          <a:solidFill>
            <a:srgbClr val="E0F2FE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69748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3400" b="1" i="0">
                <a:solidFill>
                  <a:srgbClr val="0D9488"/>
                </a:solidFill>
                <a:latin typeface="Georgia"/>
              </a:rPr>
              <a:t>16,831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2697480" cy="5943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150" b="0" i="0">
                <a:solidFill>
                  <a:srgbClr val="1E293B"/>
                </a:solidFill>
                <a:latin typeface="Calibri"/>
              </a:rPr>
              <a:t>Total Reactions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697480" cy="1645920"/>
          </a:xfrm>
          <a:prstGeom prst="rect">
            <a:avLst/>
          </a:prstGeom>
          <a:solidFill>
            <a:srgbClr val="DCFCE7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234440"/>
            <a:ext cx="269748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3400" b="1" i="0">
                <a:solidFill>
                  <a:srgbClr val="059669"/>
                </a:solidFill>
                <a:latin typeface="Georgia"/>
              </a:rPr>
              <a:t>16,750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57400"/>
            <a:ext cx="2697480" cy="5943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150" b="0" i="0">
                <a:solidFill>
                  <a:srgbClr val="1E293B"/>
                </a:solidFill>
                <a:latin typeface="Calibri"/>
              </a:rPr>
              <a:t>ORD Expert-Curated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097280"/>
            <a:ext cx="2697480" cy="1645920"/>
          </a:xfrm>
          <a:prstGeom prst="rect">
            <a:avLst/>
          </a:prstGeom>
          <a:solidFill>
            <a:srgbClr val="FFF7ED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234440"/>
            <a:ext cx="269748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3400" b="1" i="0">
                <a:solidFill>
                  <a:srgbClr val="D97706"/>
                </a:solidFill>
                <a:latin typeface="Georgia"/>
              </a:rPr>
              <a:t>5,017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2057400"/>
            <a:ext cx="2697480" cy="5943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150" b="0" i="0">
                <a:solidFill>
                  <a:srgbClr val="1E293B"/>
                </a:solidFill>
                <a:latin typeface="Calibri"/>
              </a:rPr>
              <a:t>With Yield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097280"/>
            <a:ext cx="2697480" cy="164592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234440"/>
            <a:ext cx="2697480" cy="8229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3400" b="1" i="0">
                <a:solidFill>
                  <a:srgbClr val="1E3A5F"/>
                </a:solidFill>
                <a:latin typeface="Georgia"/>
              </a:rPr>
              <a:t>16,770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57400"/>
            <a:ext cx="2697480" cy="5943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1150" b="0" i="0">
                <a:solidFill>
                  <a:srgbClr val="1E293B"/>
                </a:solidFill>
                <a:latin typeface="Calibri"/>
              </a:rPr>
              <a:t>High Confidence
(≥ 0.6)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1143000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44368"/>
            <a:ext cx="256032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944368"/>
            <a:ext cx="109728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44368"/>
            <a:ext cx="777240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10128"/>
            <a:ext cx="114300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28416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reaction_smarts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328416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328416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Full reaction template (SMARTS notation)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12464"/>
            <a:ext cx="1143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30752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product_smiles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730752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730752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Product SMILES string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114300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33088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yield_percent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133088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133088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Experimental yield (%)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17136"/>
            <a:ext cx="1143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35424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temperature_celsius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535424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35424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Reaction temperature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19472"/>
            <a:ext cx="114300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solvent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937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937760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Solvent SMILES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21808"/>
            <a:ext cx="1143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40096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catalyst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340096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340096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Catalyst SMILES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24144"/>
            <a:ext cx="114300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742432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confidence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742432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REAL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742432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0–1 score (LLM certainty)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126480"/>
            <a:ext cx="11430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144768"/>
            <a:ext cx="256032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E293B"/>
                </a:solidFill>
                <a:latin typeface="Courier New"/>
              </a:rPr>
              <a:t>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6144768"/>
            <a:ext cx="10972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1E293B"/>
                </a:solidFill>
                <a:latin typeface="Courier New"/>
              </a:rPr>
              <a:t>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6144768"/>
            <a:ext cx="77724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'ord' (expert) or 'patent' (LLM)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Reaction Search UI  —  localhost:8001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solidFill>
            <a:srgbClr val="0F11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475488"/>
          </a:xfrm>
          <a:prstGeom prst="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⚗️  Reaction Search  ·  SynAgent  ·  Patent &amp; ORD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27048"/>
            <a:ext cx="11521440" cy="384048"/>
          </a:xfrm>
          <a:prstGeom prst="rect">
            <a:avLst/>
          </a:prstGeom>
          <a:solidFill>
            <a:srgbClr val="15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45336"/>
            <a:ext cx="1133856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 16,831 Total      16,750 ORD      81 Patent      5,017 w/Yield      16,770 High Confidence  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11095"/>
            <a:ext cx="2057400" cy="4718304"/>
          </a:xfrm>
          <a:prstGeom prst="rect">
            <a:avLst/>
          </a:prstGeom>
          <a:solidFill>
            <a:srgbClr val="141927"/>
          </a:solidFill>
          <a:ln w="12700">
            <a:solidFill>
              <a:srgbClr val="1E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65960"/>
            <a:ext cx="1874519" cy="4389120"/>
          </a:xfrm>
          <a:prstGeom prst="rect">
            <a:avLst/>
          </a:prstGeom>
          <a:noFill/>
        </p:spPr>
        <p:txBody>
          <a:bodyPr wrap="square" lIns="45720" rIns="45720" tIns="36576" bIns="36576" anchor="t"/>
          <a:lstStyle/>
          <a:p>
            <a:pPr algn="l">
              <a:lnSpc>
                <a:spcPts val="15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SOURCE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● All sources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4D399"/>
                </a:solidFill>
                <a:latin typeface="Calibri"/>
              </a:rPr>
              <a:t>○ ORD (expert)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A78BFA"/>
                </a:solidFill>
                <a:latin typeface="Calibri"/>
              </a:rPr>
              <a:t>○ Patent (LLM)</a:t>
            </a:r>
          </a:p>
          <a:p>
            <a:pPr algn="l">
              <a:lnSpc>
                <a:spcPts val="15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YIELD (%)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Min: ___  Max: ___</a:t>
            </a:r>
          </a:p>
          <a:p>
            <a:pPr algn="l">
              <a:lnSpc>
                <a:spcPts val="15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MIN CONFIDENCE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6366F1"/>
                </a:solidFill>
                <a:latin typeface="Calibri"/>
              </a:rPr>
              <a:t>▬▬▬▬▬○────── 0.0</a:t>
            </a:r>
          </a:p>
          <a:p>
            <a:pPr algn="l">
              <a:lnSpc>
                <a:spcPts val="15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SOLVENT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e.g. water, ethanol</a:t>
            </a:r>
          </a:p>
          <a:p>
            <a:pPr algn="l">
              <a:lnSpc>
                <a:spcPts val="15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CATALYST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e.g. palladium</a:t>
            </a:r>
          </a:p>
          <a:p>
            <a:pPr algn="l">
              <a:lnSpc>
                <a:spcPts val="1500"/>
              </a:lnSpc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SORT BY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94A3B8"/>
                </a:solidFill>
                <a:latin typeface="Calibri"/>
              </a:rPr>
              <a:t>Confidence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911095"/>
            <a:ext cx="9464040" cy="4718304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1993392"/>
            <a:ext cx="9189720" cy="438912"/>
          </a:xfrm>
          <a:prstGeom prst="rect">
            <a:avLst/>
          </a:prstGeom>
          <a:solidFill>
            <a:srgbClr val="151B2D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029968"/>
            <a:ext cx="82296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🔍   Search by keyword, SMARTS, product SMILES, solvent, catalyst...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2039112"/>
            <a:ext cx="77724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2039112"/>
            <a:ext cx="777240" cy="347472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578608"/>
            <a:ext cx="9189720" cy="86868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2651760"/>
            <a:ext cx="1828800" cy="256032"/>
          </a:xfrm>
          <a:prstGeom prst="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2660903"/>
            <a:ext cx="1792224" cy="237744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850" b="1" i="0">
                <a:solidFill>
                  <a:srgbClr val="34D399"/>
                </a:solidFill>
                <a:latin typeface="Calibri"/>
              </a:rPr>
              <a:t>ORD · 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33472"/>
            <a:ext cx="3657600" cy="27432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Sonogashira Coupling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962656"/>
            <a:ext cx="9144000" cy="2286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900" b="0" i="0">
                <a:solidFill>
                  <a:srgbClr val="6366F1"/>
                </a:solidFill>
                <a:latin typeface="Courier New"/>
              </a:rPr>
              <a:t>SMARTS: [c:1]-[I]+[C:2]#[CH]&gt;&gt;[c:1]-[C:2]#[CH]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191256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Yield: 99.0%  ·  Solvent: water  ·  Catalyst: Fe3O4@SiO2-NH2-Pd(ii), CuI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566160"/>
            <a:ext cx="9189720" cy="868680"/>
          </a:xfrm>
          <a:prstGeom prst="rect">
            <a:avLst/>
          </a:prstGeom>
          <a:solidFill>
            <a:srgbClr val="1A1F2E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3639312"/>
            <a:ext cx="1828800" cy="256032"/>
          </a:xfrm>
          <a:prstGeom prst="rect">
            <a:avLst/>
          </a:prstGeom>
          <a:solidFill>
            <a:srgbClr val="1E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3648456"/>
            <a:ext cx="1792224" cy="237744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850" b="1" i="0">
                <a:solidFill>
                  <a:srgbClr val="A78BFA"/>
                </a:solidFill>
                <a:latin typeface="Calibri"/>
              </a:rPr>
              <a:t>Patent · LLM  conf=0.60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21024"/>
            <a:ext cx="3657600" cy="27432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Suzuki Cross-Coupling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950208"/>
            <a:ext cx="9144000" cy="2286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900" b="0" i="0">
                <a:solidFill>
                  <a:srgbClr val="6366F1"/>
                </a:solidFill>
                <a:latin typeface="Courier New"/>
              </a:rPr>
              <a:t>SMARTS: [c:1]-[Br].[B:2](O)O&gt;&gt;[c:1]-[B:2]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178808"/>
            <a:ext cx="9144000" cy="20116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Yield: 87.0%  ·  Temp: 80°C  ·  Solvent: DMF/H2O  ·  Catalyst: Pd(PPh3)4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617720"/>
            <a:ext cx="9144000" cy="27432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Click any SMILES/SMARTS chip to copy  ·  Paginated · 20 results/page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ORD Tool — Wired into SynAgent's Agent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49377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475488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🧠  Master Agent (Gemini 2.5 Flash)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377440"/>
            <a:ext cx="36576" cy="320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651760"/>
            <a:ext cx="42976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70048"/>
            <a:ext cx="219456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Validation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70048"/>
            <a:ext cx="192024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RDKit SMILES &amp; template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246120"/>
            <a:ext cx="36576" cy="320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20439"/>
            <a:ext cx="42976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38727"/>
            <a:ext cx="219456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ChemSpace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538727"/>
            <a:ext cx="192024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Building block pricing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4114800"/>
            <a:ext cx="36576" cy="320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389120"/>
            <a:ext cx="429768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407408"/>
            <a:ext cx="219456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Optimization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407408"/>
            <a:ext cx="192024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PubChem GHS hazard scoring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983480"/>
            <a:ext cx="36576" cy="320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257800"/>
            <a:ext cx="4297680" cy="502920"/>
          </a:xfrm>
          <a:prstGeom prst="rect">
            <a:avLst/>
          </a:prstGeom>
          <a:solidFill>
            <a:srgbClr val="0A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5276088"/>
            <a:ext cx="219456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ORD Agent  ← 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276088"/>
            <a:ext cx="1920240" cy="466344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Reaction database lookup (FTS5)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097280"/>
            <a:ext cx="5623560" cy="2468880"/>
          </a:xfrm>
          <a:prstGeom prst="rect">
            <a:avLst/>
          </a:prstGeom>
          <a:solidFill>
            <a:srgbClr val="E8F5F3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188720"/>
            <a:ext cx="521208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0A5C5C"/>
                </a:solidFill>
                <a:latin typeface="Calibri"/>
              </a:rPr>
              <a:t>Example ORD Agent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64208"/>
            <a:ext cx="5212080" cy="1828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6366F1"/>
                </a:solidFill>
                <a:latin typeface="Courier New"/>
              </a:rPr>
              <a:t>query_ord_reaction(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94A3B8"/>
                </a:solidFill>
                <a:latin typeface="Courier New"/>
              </a:rPr>
              <a:t>    reaction_smarts=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34D399"/>
                </a:solidFill>
                <a:latin typeface="Courier New"/>
              </a:rPr>
              <a:t>        "[c:1]-[Br].[B:2]&gt;&gt;[c:1]-[B:2]",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34D399"/>
                </a:solidFill>
                <a:latin typeface="Courier New"/>
              </a:rPr>
              <a:t>    keyword="Suzuki palladium"</a:t>
            </a:r>
          </a:p>
          <a:p>
            <a:pPr algn="l">
              <a:lnSpc>
                <a:spcPts val="1700"/>
              </a:lnSpc>
            </a:pPr>
            <a:r>
              <a:rPr sz="1100" b="0">
                <a:solidFill>
                  <a:srgbClr val="6366F1"/>
                </a:solidFill>
                <a:latin typeface="Courier New"/>
              </a:rPr>
              <a:t>)</a:t>
            </a:r>
          </a:p>
          <a:p>
            <a:pPr algn="l">
              <a:lnSpc>
                <a:spcPts val="1700"/>
              </a:lnSpc>
            </a:pPr>
            <a:r>
              <a:rPr sz="6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1">
                <a:solidFill>
                  <a:srgbClr val="0D9488"/>
                </a:solidFill>
                <a:latin typeface="Courier New"/>
              </a:rPr>
              <a:t>→ Found 3 reactions</a:t>
            </a:r>
          </a:p>
          <a:p>
            <a:pPr algn="l">
              <a:lnSpc>
                <a:spcPts val="1700"/>
              </a:lnSpc>
            </a:pPr>
            <a:r>
              <a:rPr sz="1200" b="1">
                <a:solidFill>
                  <a:srgbClr val="0D9488"/>
                </a:solidFill>
                <a:latin typeface="Courier New"/>
              </a:rPr>
              <a:t>→ 99% yield · water · Pd catalyst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49039"/>
            <a:ext cx="5623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5212080" cy="347472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How It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51960"/>
            <a:ext cx="5212080" cy="1828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User: Find precedent for Suzuki coupling</a:t>
            </a:r>
          </a:p>
          <a:p>
            <a:pPr algn="l">
              <a:lnSpc>
                <a:spcPts val="1800"/>
              </a:lnSpc>
            </a:pPr>
            <a:r>
              <a:rPr sz="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1. Master calls call_reaction_agent()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2. ORD agent runs FTS5 query on reactions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3. Returns yield, temp, solvent, catalyst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4. Master combines with all 4 agent outputs</a:t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0D9488"/>
                </a:solidFill>
                <a:latin typeface="Calibri"/>
              </a:rPr>
              <a:t>5. Single unified synthesis route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Engineering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What I Chose &amp; Why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46504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SQLite not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Portable, runs on USB drives, WAL concurrency mode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414016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source column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33472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One table, two origins — no complex joins needed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081528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FTS5 over vector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00984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Fast, no GPU, works fully offline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749039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94176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No LLM for ORD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68496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Eliminates hallucination, saves API cost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416551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61688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run_loop.py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36007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Auto-restarts worker on 429 rate-limit failures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084064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Confidence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Flags low-quality extractions for human review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5751576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96712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PATENT_DATA_DIR env var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71032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USB path set once; all code reads from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097280"/>
            <a:ext cx="5486400" cy="54864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400" b="1" i="0">
                <a:solidFill>
                  <a:srgbClr val="065F46"/>
                </a:solidFill>
                <a:latin typeface="Calibri"/>
              </a:rPr>
              <a:t>Suggested 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1709928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691640"/>
            <a:ext cx="256032" cy="3200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169164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Build FAISS semantic 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196596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66534"/>
                </a:solidFill>
                <a:latin typeface="Calibri"/>
              </a:rPr>
              <a:t>Embedding-based SMILES similarity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2514600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496312"/>
            <a:ext cx="256032" cy="3200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496312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Active learning fine-tuning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770632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66534"/>
                </a:solidFill>
                <a:latin typeface="Calibri"/>
              </a:rPr>
              <a:t>Use human corrections to improve LLM extraction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319272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300984"/>
            <a:ext cx="256032" cy="3200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300984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PatentsView bulk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575303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66534"/>
                </a:solidFill>
                <a:latin typeface="Calibri"/>
              </a:rPr>
              <a:t>Free weekly USPTO grant CSVs (no API key)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23944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105656"/>
            <a:ext cx="256032" cy="3200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105656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Deploy search UI to web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379976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66534"/>
                </a:solidFill>
                <a:latin typeface="Calibri"/>
              </a:rPr>
              <a:t>Share with lab — no local setup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492861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910328"/>
            <a:ext cx="256032" cy="3200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910328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Expand paper corpus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184648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66534"/>
                </a:solidFill>
                <a:latin typeface="Calibri"/>
              </a:rPr>
              <a:t>1,700+ papers already queued for parsing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5733288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715000"/>
            <a:ext cx="256032" cy="3200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571500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Reaction pathway scoring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5989320"/>
            <a:ext cx="4754880" cy="292608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100" b="0" i="0">
                <a:solidFill>
                  <a:srgbClr val="166534"/>
                </a:solidFill>
                <a:latin typeface="Calibri"/>
              </a:rPr>
              <a:t>Use ORD precedent to weight SynAgent route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0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What This Enables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32720" cy="1188720"/>
          </a:xfrm>
          <a:prstGeom prst="rect">
            <a:avLst/>
          </a:prstGeom>
          <a:solidFill>
            <a:srgbClr val="0D1F3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966960" cy="1005840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700" b="0" i="0">
                <a:solidFill>
                  <a:srgbClr val="7DD3FC"/>
                </a:solidFill>
                <a:latin typeface="Georgia"/>
              </a:rPr>
              <a:t>SynAgent can now answer:
Has this reaction been done before? What yield was achieved? Under what conditions?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502920" cy="475488"/>
          </a:xfrm>
          <a:prstGeom prst="rect">
            <a:avLst/>
          </a:prstGeom>
          <a:solidFill>
            <a:srgbClr val="0A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502920" cy="47548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800" b="1" i="0">
                <a:solidFill>
                  <a:srgbClr val="34D399"/>
                </a:solidFill>
                <a:latin typeface="Georg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72968"/>
            <a:ext cx="96012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16,831 reactions indexed from ORD + patent literature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67328"/>
            <a:ext cx="502920" cy="475488"/>
          </a:xfrm>
          <a:prstGeom prst="rect">
            <a:avLst/>
          </a:prstGeom>
          <a:solidFill>
            <a:srgbClr val="0A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67328"/>
            <a:ext cx="502920" cy="47548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800" b="1" i="0">
                <a:solidFill>
                  <a:srgbClr val="34D399"/>
                </a:solidFill>
                <a:latin typeface="Georg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831336"/>
            <a:ext cx="96012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Any route checked for experimental precedent in milliseconds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425696"/>
            <a:ext cx="502920" cy="475488"/>
          </a:xfrm>
          <a:prstGeom prst="rect">
            <a:avLst/>
          </a:prstGeom>
          <a:solidFill>
            <a:srgbClr val="0A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25696"/>
            <a:ext cx="502920" cy="475488"/>
          </a:xfrm>
          <a:prstGeom prst="rect">
            <a:avLst/>
          </a:prstGeom>
          <a:noFill/>
        </p:spPr>
        <p:txBody>
          <a:bodyPr wrap="square" lIns="45720" rIns="45720" tIns="22860" bIns="22860" anchor="ctr"/>
          <a:lstStyle/>
          <a:p>
            <a:pPr algn="ctr"/>
            <a:r>
              <a:rPr sz="1800" b="1" i="0">
                <a:solidFill>
                  <a:srgbClr val="34D399"/>
                </a:solidFill>
                <a:latin typeface="Georg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89704"/>
            <a:ext cx="9601200" cy="36576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Human-in-the-loop review improves extraction quality over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11247120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7772400" cy="4114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github.com/A-Sanil/SynAgent  ·  asanil@berkeley.edu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074920"/>
            <a:ext cx="4114800" cy="411480"/>
          </a:xfrm>
          <a:prstGeom prst="rect">
            <a:avLst/>
          </a:prstGeom>
          <a:noFill/>
        </p:spPr>
        <p:txBody>
          <a:bodyPr wrap="square" lIns="45720" rIns="45720" tIns="22860" bIns="22860" anchor="t"/>
          <a:lstStyle/>
          <a:p>
            <a:pPr algn="r"/>
            <a:r>
              <a:rPr sz="1300" b="1" i="0">
                <a:solidFill>
                  <a:srgbClr val="0D9488"/>
                </a:solidFill>
                <a:latin typeface="Georgia"/>
              </a:rPr>
              <a:t>Excited for Wednesday!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